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9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151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12344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40780" y="12344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E3F7A">
              <a:alpha val="8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12344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6CC0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09460" y="12344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12344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C9A227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78140" y="12344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06440" y="16687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0780" y="16687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4A7BD0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6687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E3F7A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09460" y="16687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0" y="16687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6CC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78140" y="166878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C9A227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4078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E3F7A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0946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4380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6CC0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78140" y="210312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06440" y="253746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E3F7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40780" y="253746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4A7BD0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0" y="253746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7109460" y="253746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6305E"/>
          </a:solidFill>
          <a:ln/>
        </p:spPr>
      </p:sp>
      <p:sp>
        <p:nvSpPr>
          <p:cNvPr id="24" name="Shape 22"/>
          <p:cNvSpPr/>
          <p:nvPr/>
        </p:nvSpPr>
        <p:spPr>
          <a:xfrm>
            <a:off x="7543800" y="253746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/>
          </a:solidFill>
          <a:ln/>
        </p:spPr>
      </p:sp>
      <p:sp>
        <p:nvSpPr>
          <p:cNvPr id="25" name="Shape 23"/>
          <p:cNvSpPr/>
          <p:nvPr/>
        </p:nvSpPr>
        <p:spPr>
          <a:xfrm>
            <a:off x="7978140" y="253746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6CC0"/>
          </a:solidFill>
          <a:ln/>
        </p:spPr>
      </p:sp>
      <p:sp>
        <p:nvSpPr>
          <p:cNvPr id="26" name="Shape 24"/>
          <p:cNvSpPr/>
          <p:nvPr/>
        </p:nvSpPr>
        <p:spPr>
          <a:xfrm>
            <a:off x="5806440" y="2971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E3F7A">
              <a:alpha val="8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40780" y="2971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2971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4A7BD0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109460" y="2971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43800" y="2971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978140" y="29718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3A6CC0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806440" y="34061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E3F7A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40780" y="34061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C9A227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0" y="34061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09460" y="34061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43800" y="34061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4A7BD0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978140" y="340614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4572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20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Pattern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" y="777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 学 生 科 研 训 练 项 目 · 答 辩 汇 报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8368" y="14173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基于 Transformer 的逻辑表达式求值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658368" y="21214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50" kern="0" spc="100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—— 模型推理能力与内部机制研究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685800" y="2788920"/>
            <a:ext cx="566928" cy="5943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3154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答辩人：华天和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  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713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63040" y="1170432"/>
            <a:ext cx="667512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280160"/>
            <a:ext cx="59436" cy="43891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9" name="Shape 7"/>
          <p:cNvSpPr/>
          <p:nvPr/>
        </p:nvSpPr>
        <p:spPr>
          <a:xfrm>
            <a:off x="1664208" y="1307592"/>
            <a:ext cx="384048" cy="384048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10" name="Text 8"/>
          <p:cNvSpPr/>
          <p:nvPr/>
        </p:nvSpPr>
        <p:spPr>
          <a:xfrm>
            <a:off x="1664208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122529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22529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为什么研究逻辑表达式求值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63040" y="1929384"/>
            <a:ext cx="667512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63040" y="2039112"/>
            <a:ext cx="59436" cy="43891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1664208" y="206654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2066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19842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研究方案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98424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数据集构建 · 模型设计 · 初始化策略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463040" y="2688336"/>
            <a:ext cx="667512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63040" y="2798064"/>
            <a:ext cx="59436" cy="43891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21" name="Shape 19"/>
          <p:cNvSpPr/>
          <p:nvPr/>
        </p:nvSpPr>
        <p:spPr>
          <a:xfrm>
            <a:off x="1664208" y="2825496"/>
            <a:ext cx="384048" cy="384048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22" name="Text 20"/>
          <p:cNvSpPr/>
          <p:nvPr/>
        </p:nvSpPr>
        <p:spPr>
          <a:xfrm>
            <a:off x="1664208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4028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实验结果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求值性能 · 初始化消融 · 泛化测试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63040" y="3447288"/>
            <a:ext cx="667512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63040" y="3557016"/>
            <a:ext cx="59436" cy="43891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1664208" y="358444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1664208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40280" y="35021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机制分析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35021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· Attention · 替换实验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463040" y="4206240"/>
            <a:ext cx="6675120" cy="658368"/>
          </a:xfrm>
          <a:prstGeom prst="roundRect">
            <a:avLst>
              <a:gd name="adj" fmla="val 763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63040" y="4315968"/>
            <a:ext cx="59436" cy="43891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33" name="Shape 31"/>
          <p:cNvSpPr/>
          <p:nvPr/>
        </p:nvSpPr>
        <p:spPr>
          <a:xfrm>
            <a:off x="1664208" y="4343400"/>
            <a:ext cx="384048" cy="384048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34" name="Text 32"/>
          <p:cNvSpPr/>
          <p:nvPr/>
        </p:nvSpPr>
        <p:spPr>
          <a:xfrm>
            <a:off x="1664208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40280" y="42611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54880" y="42611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主要结论 · 不足 · 未来方向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研究背景：LLM 需要逻辑推理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研究背景与意义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41648" cy="274320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59436" cy="252374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43584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自然语言充满逻辑关系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“如果……那么……”“……不成立”等逻辑关系大量存在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不同逻辑关系之间需要演绎推理进行综合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逻辑推理是 LLM 理解与生成自然语言的基础能力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041648" cy="274320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07008"/>
            <a:ext cx="59436" cy="2523744"/>
          </a:xfrm>
          <a:prstGeom prst="roundRect">
            <a:avLst>
              <a:gd name="adj" fmla="val 46154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243584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大语言模型存在“幻觉”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典型表现：A 能推导出 B，当 B 成立时，模型可能误认为 A 也成立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演绎推理出错 → 生成内容看似合理实则矛盾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推理能力不足制约 LLM 在关键场景的可靠性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151376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0507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研究动机：从最简单的逻辑任务入手，理解并提升大语言模型的逻辑推理能力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研究意义与核心问题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研究背景与意义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749040" cy="3310128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59436" cy="309067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43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为什么选择逻辑表达式？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336499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最简单的数学表达式：变量与输出仅有 0 / 1 两种取值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完全可控、可验证、可穷举 —— 研究推理能力的理想“测试床”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定理证明的本质是多步逻辑推理（如几何证明中的“如果……那么……”）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相关任务：表达式求值、重言式判定（均为二分类）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097280"/>
            <a:ext cx="429768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207008"/>
            <a:ext cx="59436" cy="80467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225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Q1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138928" y="12161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能否学会逻辑表达式求值？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38928" y="16276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任务可学性与学习效率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2249424"/>
            <a:ext cx="429768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2359152"/>
            <a:ext cx="59436" cy="80467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2377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Q2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138928" y="23682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什么因素影响模型的泛化（推理）能力？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38928" y="277977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训练策略（初始化）的作用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401568"/>
            <a:ext cx="4297680" cy="1024128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511296"/>
            <a:ext cx="59436" cy="80467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Q3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138928" y="3520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模型内部如何完成逻辑“思考”？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39319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可解释性与机制分析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总体技术路线：四阶段闭环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研究方案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01952" cy="2331720"/>
          </a:xfrm>
          <a:prstGeom prst="roundRect">
            <a:avLst>
              <a:gd name="adj" fmla="val 264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81328"/>
            <a:ext cx="59436" cy="211226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1517904"/>
            <a:ext cx="365760" cy="36576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517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527048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数据生成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2029968"/>
            <a:ext cx="15910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子串法 / 子图哈希法划分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特殊测试集构造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标签均衡化治理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2427732"/>
            <a:ext cx="219456" cy="21945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2615184" y="1371600"/>
            <a:ext cx="1901952" cy="2331720"/>
          </a:xfrm>
          <a:prstGeom prst="roundRect">
            <a:avLst>
              <a:gd name="adj" fmla="val 264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15184" y="1481328"/>
            <a:ext cx="59436" cy="211226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61488" y="1517904"/>
            <a:ext cx="365760" cy="36576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16" name="Text 14"/>
          <p:cNvSpPr/>
          <p:nvPr/>
        </p:nvSpPr>
        <p:spPr>
          <a:xfrm>
            <a:off x="2761488" y="1517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82112" y="1527048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模型训练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79776" y="2029968"/>
            <a:ext cx="15910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Decoder-only Transformer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小初始化策略消融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epoch 完整训练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35424" y="2427732"/>
            <a:ext cx="219456" cy="21945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73168" y="1371600"/>
            <a:ext cx="1901952" cy="2331720"/>
          </a:xfrm>
          <a:prstGeom prst="roundRect">
            <a:avLst>
              <a:gd name="adj" fmla="val 264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73168" y="1481328"/>
            <a:ext cx="59436" cy="211226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22" name="Shape 20"/>
          <p:cNvSpPr/>
          <p:nvPr/>
        </p:nvSpPr>
        <p:spPr>
          <a:xfrm>
            <a:off x="4919472" y="1517904"/>
            <a:ext cx="365760" cy="36576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1517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0096" y="1527048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泛化测试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2029968"/>
            <a:ext cx="15910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~ / 仅 | / 仅 &amp; 测试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短表达式 / 长度泛化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与大模型行为对照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93408" y="2427732"/>
            <a:ext cx="219456" cy="21945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931152" y="1371600"/>
            <a:ext cx="1901952" cy="2331720"/>
          </a:xfrm>
          <a:prstGeom prst="roundRect">
            <a:avLst>
              <a:gd name="adj" fmla="val 264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31152" y="1481328"/>
            <a:ext cx="59436" cy="2112264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7077456" y="151790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7077456" y="1517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1527048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机制分析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95744" y="2029968"/>
            <a:ext cx="15910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可视化 (PCA)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矩阵分析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注意力替换实验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4078224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9319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→ 训练 → 测试 → 分析：实验结果反哺数据与训练策略，形成研究闭环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任务定义：逻辑表达式求值（二分类）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研究方案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输入：( ~0 | 1 ) &amp; 1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中缀布尔表达式，token 共 8 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50208" y="1408176"/>
            <a:ext cx="329184" cy="23774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170432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16305E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225296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Transformer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自回归逐位求值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84848" y="1408176"/>
            <a:ext cx="329184" cy="23774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7223760" y="1170432"/>
            <a:ext cx="1463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225296"/>
            <a:ext cx="137160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真值 = 0</a:t>
            </a:r>
            <a:endParaRPr lang="en-US" sz="15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二分类输出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字符表（8 种 token）：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EEF2F9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90672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EEF2F9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03904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EEF2F9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17136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6305E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30368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6305E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16305E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56832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EEF2F9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70064" y="2084832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EEF2F9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0064" y="20848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77440" y="2487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填充符    ~ 非    | 或    &amp; 与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2688336" cy="1298448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035808"/>
            <a:ext cx="59436" cy="107899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入门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" y="33467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后缀表达式 + 全连接神经网络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" y="38221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跑通“生成—训练—验证”全流程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73552" y="2926080"/>
            <a:ext cx="2688336" cy="1298448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73552" y="3035808"/>
            <a:ext cx="59436" cy="107899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3438144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主线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38144" y="33467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中缀表达式 + Decoder-only Transformer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38144" y="38221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系统研究初始化与泛化能力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89904" y="2926080"/>
            <a:ext cx="2688336" cy="1298448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9904" y="3035808"/>
            <a:ext cx="59436" cy="107899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44" name="Text 42"/>
          <p:cNvSpPr/>
          <p:nvPr/>
        </p:nvSpPr>
        <p:spPr>
          <a:xfrm>
            <a:off x="6254496" y="30175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拓展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54496" y="33467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奇偶性任务 + 无位置编码 Transformer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54496" y="38221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检验无位置信息下的组合推理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5450288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数据集构建：防泄漏划分 + 特殊测试集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研究方案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60520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59436" cy="135331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0700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子串法（主用数据集）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3776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按表达式子串划分训练 / 测试集，杜绝同子串数据泄漏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maxlen = 15，m = 5，规模 10⁵ 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416052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07792"/>
            <a:ext cx="59436" cy="96926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90779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子图哈希法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3255264"/>
            <a:ext cx="3776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按表达式树子图划分，考察结构层面的泛化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1605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224528"/>
            <a:ext cx="59436" cy="69494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420624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" y="45354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0/1 均衡化（91% 偏斜 → 约 50 : 50）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3886200" cy="2889504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207008"/>
            <a:ext cx="59436" cy="2670048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120700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特殊测试集（泛化探针）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01768" y="1627632"/>
            <a:ext cx="1577340" cy="969264"/>
          </a:xfrm>
          <a:prstGeom prst="roundRect">
            <a:avLst>
              <a:gd name="adj" fmla="val 4717"/>
            </a:avLst>
          </a:prstGeom>
          <a:solidFill>
            <a:srgbClr val="FBF3F2"/>
          </a:solidFill>
          <a:ln w="12700">
            <a:solidFill>
              <a:srgbClr val="E5C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4" y="1719072"/>
            <a:ext cx="13213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仅含 ~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29784" y="2048256"/>
            <a:ext cx="132130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多重否定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（可含括号）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3428" y="1627632"/>
            <a:ext cx="1577340" cy="969264"/>
          </a:xfrm>
          <a:prstGeom prst="roundRect">
            <a:avLst>
              <a:gd name="adj" fmla="val 4717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81444" y="1719072"/>
            <a:ext cx="13213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仅含 |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81444" y="2048256"/>
            <a:ext cx="132130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纯或运算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（可含括号）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01768" y="2798064"/>
            <a:ext cx="1577340" cy="969264"/>
          </a:xfrm>
          <a:prstGeom prst="roundRect">
            <a:avLst>
              <a:gd name="adj" fmla="val 4717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2889504"/>
            <a:ext cx="13213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仅含 &amp;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29784" y="3218688"/>
            <a:ext cx="132130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纯与运算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（可含括号）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3428" y="2798064"/>
            <a:ext cx="1577340" cy="969264"/>
          </a:xfrm>
          <a:prstGeom prst="roundRect">
            <a:avLst>
              <a:gd name="adj" fmla="val 4717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1444" y="2889504"/>
            <a:ext cx="13213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短表达式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81444" y="3218688"/>
            <a:ext cx="132130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长度低于训练集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最小长度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4114800"/>
            <a:ext cx="38862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4224528"/>
            <a:ext cx="59436" cy="69494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35" name="Text 33"/>
          <p:cNvSpPr/>
          <p:nvPr/>
        </p:nvSpPr>
        <p:spPr>
          <a:xfrm>
            <a:off x="4965192" y="4206240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表达式形式对比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001768" y="453542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 vs 后缀表达式学习难度对照实验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6021208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模型设计：Decoder-only Transformer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研究方案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3730752" cy="3172968"/>
          </a:xfrm>
          <a:prstGeom prst="roundRect">
            <a:avLst>
              <a:gd name="adj" fmla="val 172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11880" y="1883664"/>
            <a:ext cx="621792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L = 6 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06070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0607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输入表达式（one-hot 编码）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07108" y="1405433"/>
            <a:ext cx="100584" cy="109728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9504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49504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嵌入层 + 可训练位置编码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07108" y="1839773"/>
            <a:ext cx="100584" cy="109728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92938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92938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掩码自注意力（Causal Mask）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07108" y="2274113"/>
            <a:ext cx="100584" cy="109728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36372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3637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&amp; LayerNorm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07108" y="2708453"/>
            <a:ext cx="100584" cy="109728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79806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7980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FFN（32 → 16 → 16）+ ReLU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07108" y="3142793"/>
            <a:ext cx="100584" cy="109728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23240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2324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&amp; LayerNorm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07108" y="3577133"/>
            <a:ext cx="100584" cy="109728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666744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16305E"/>
          </a:solidFill>
          <a:ln w="12700">
            <a:solidFill>
              <a:srgbClr val="1630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66674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线性投影 + Sigmoid（取末位）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07408" y="1060704"/>
          <a:ext cx="4279392" cy="329184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注意力头数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单头（Single-Head）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d_model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d_qkv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FFN 隐藏层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→ 16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位置编码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可训练参数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优化器 / 学习率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0.001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损失函数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BCE Loss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掩码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下三角因果掩码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457200" y="449884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30" name="Shape 27"/>
          <p:cNvSpPr/>
          <p:nvPr/>
        </p:nvSpPr>
        <p:spPr>
          <a:xfrm>
            <a:off x="566928" y="4645152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449884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因果掩码：每个位置只能看到之前的 token —— 模型以自回归方式逐步完成求值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关键策略：小初始化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研究方案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630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~ N(0, 2·(1/d_m)</a:t>
            </a:r>
            <a:r>
              <a:rPr lang="en-US" sz="1400" baseline="3000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bias ~ U(−√(2·(3/d_m)</a:t>
            </a:r>
            <a:r>
              <a:rPr lang="en-US" sz="1400" baseline="3000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√(2·(3/d_m)</a:t>
            </a:r>
            <a:r>
              <a:rPr lang="en-US" sz="1400" baseline="3000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10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x 控制初始化尺度</a:t>
            </a:r>
            <a:endParaRPr lang="en-US" sz="1400" dirty="0"/>
          </a:p>
        </p:txBody>
      </p:sp>
      <p:pic>
        <p:nvPicPr>
          <p:cNvPr id="8" name="Image 0" descr="D:\华天和\计算机\项目\Transformer学习逻辑\PPT素材\init_dist_1350x7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1284"/>
            <a:ext cx="5074920" cy="2819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1883664"/>
            <a:ext cx="2971800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1993392"/>
            <a:ext cx="59436" cy="126187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11" name="Text 8"/>
          <p:cNvSpPr/>
          <p:nvPr/>
        </p:nvSpPr>
        <p:spPr>
          <a:xfrm>
            <a:off x="5879592" y="197510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理论依据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897880" y="2322576"/>
            <a:ext cx="2624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 将负半轴置零 → 深层方差逐层衰减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小初始化使信号缓慢放大，利于学习推理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0" y="3474720"/>
            <a:ext cx="2971800" cy="1243584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3584448"/>
            <a:ext cx="59436" cy="1024128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5879592" y="356616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实验结论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97880" y="3895344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扫描初始化指数 x：x = 0.8 时模型泛化性能最佳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535745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主实验：Transformer 能学会逻辑求值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实验结果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3063240" cy="1170432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25296"/>
            <a:ext cx="59436" cy="950976"/>
          </a:xfrm>
          <a:prstGeom prst="roundRect">
            <a:avLst>
              <a:gd name="adj" fmla="val 46154"/>
            </a:avLst>
          </a:prstGeom>
          <a:solidFill>
            <a:srgbClr val="16305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20700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99.83%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76656" y="1892808"/>
            <a:ext cx="266090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训练集准确率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3063240" cy="1170432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23744"/>
            <a:ext cx="59436" cy="950976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0545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98.88%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76656" y="3191256"/>
            <a:ext cx="266090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测试集准确率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子串法数据集（maxlen=15，10⁵ 条）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200 epoch，耗时约 3 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1115568"/>
            <a:ext cx="493776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pic>
        <p:nvPicPr>
          <p:cNvPr id="16" name="Image 0" descr="D:\华天和\计算机\项目\Transformer学习逻辑\PPT素材\acc_curve_1000x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120" y="1243584"/>
            <a:ext cx="4419600" cy="2651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931920" y="39867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/ 测试准确率曲线（子串法数据，m = 5）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55371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9" name="Shape 16"/>
          <p:cNvSpPr/>
          <p:nvPr/>
        </p:nvSpPr>
        <p:spPr>
          <a:xfrm>
            <a:off x="566928" y="4700016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55371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训练—测试仅差约 1%：模型学到的是求值规则，而非对训练样本的记忆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消融实验：小初始化增强泛化能力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实验结果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041648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25296"/>
            <a:ext cx="59436" cy="1700784"/>
          </a:xfrm>
          <a:prstGeom prst="roundRect">
            <a:avLst>
              <a:gd name="adj" fmla="val 46154"/>
            </a:avLst>
          </a:prstGeom>
          <a:solidFill>
            <a:srgbClr val="5B647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43584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= 0.5（常规尺度）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0.500，初始权重分布较宽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模型倾向“记忆”训练数据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分布外泛化能力较弱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1115568"/>
            <a:ext cx="4041648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25296"/>
            <a:ext cx="59436" cy="1700784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243584"/>
            <a:ext cx="358444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= 0.8（小初始化）★ 最佳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0.166，权重集中在 0 附近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模型展现“推理”行为：学到规则本身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泛化性能显著更优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170432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10128"/>
            <a:ext cx="59436" cy="950976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2918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理论视角：初始化是“记忆 / 推理”的开关（组会理论学习）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" y="3639312"/>
            <a:ext cx="7827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超参数如“基因”调控模型行为：越过临界值（如 γ = 0.5）时发生“相变” —— 记忆解 → 推理解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小初始化推迟有效学习起点，让梯度先构建通用结构、再填充细节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51713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663440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1713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结论：初始化尺度是影响 Transformer 推理（泛化）能力的关键训练因素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泛化性测试：多重否定暴露短板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实验结果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749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pic>
        <p:nvPicPr>
          <p:cNvPr id="7" name="Image 0" descr="D:\华天和\计算机\项目\Transformer学习逻辑\PPT素材\generalization_1350x7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22248"/>
            <a:ext cx="4800600" cy="266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097280"/>
            <a:ext cx="2971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pic>
        <p:nvPicPr>
          <p:cNvPr id="9" name="Image 1" descr="D:\华天和\计算机\项目\Transformer学习逻辑\PPT素材\not_curve_1000x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1188720"/>
            <a:ext cx="274320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15000" y="3054096"/>
            <a:ext cx="2971800" cy="110642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15000" y="3163824"/>
            <a:ext cx="59436" cy="886968"/>
          </a:xfrm>
          <a:prstGeom prst="roundRect">
            <a:avLst>
              <a:gd name="adj" fmla="val 46154"/>
            </a:avLst>
          </a:prstGeom>
          <a:solidFill>
            <a:srgbClr val="C0392B"/>
          </a:solidFill>
          <a:ln/>
        </p:spPr>
      </p:sp>
      <p:sp>
        <p:nvSpPr>
          <p:cNvPr id="12" name="Text 8"/>
          <p:cNvSpPr/>
          <p:nvPr/>
        </p:nvSpPr>
        <p:spPr>
          <a:xfrm>
            <a:off x="5879592" y="3127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失败模式洞察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879592" y="341985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越多，准确率越低（最低 &lt; 70%）</a:t>
            </a:r>
            <a:endParaRPr lang="en-US" sz="10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表达式越短，准确率越低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31596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928" y="4462272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431596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仅含 | / &amp; 可达 100%，仅含 ~（多重否定）仅 86.13% —— 错误集中于连续取反的追踪失败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5649878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与大模型行为对照：多重否定是共性难点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实验结果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41648" cy="2395728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52728"/>
            <a:ext cx="59436" cy="217627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9304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本项目模型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万级参数 · 从零训练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984248"/>
            <a:ext cx="36576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仅非（多重否定）数据集准确率 86.13%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错误集中于“连续多个 ~”的极性追踪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其余运算（|、&amp;）可达 100%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5152" y="1143000"/>
            <a:ext cx="4041648" cy="2395728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1252728"/>
            <a:ext cx="59436" cy="217627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89304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智谱清言（大模型）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600200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超大规模 · 通用预训练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984248"/>
            <a:ext cx="36576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在多重否定场景同样出现错误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规模与预训练并未解决该问题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与本模型失败模式一致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867912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21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推论：多重否定是 Transformer 架构的共性难点，与参数规模无关 —— 小模型是研究该问题的有效载体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后续：构造多重否定案例库，通过大模型 API 开展系统化批量评测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Embedding 分析：结构尚未显现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机制分析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4164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pic>
        <p:nvPicPr>
          <p:cNvPr id="7" name="Image 0" descr="D:\华天和\计算机\项目\Transformer学习逻辑\PPT素材\embedding_heatmap_640x4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56" y="1225296"/>
            <a:ext cx="2840736" cy="21305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3392424"/>
            <a:ext cx="371246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训练后 Embedding 权重热力图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45152" y="1097280"/>
            <a:ext cx="4041648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pic>
        <p:nvPicPr>
          <p:cNvPr id="10" name="Image 1" descr="D:\华天和\计算机\项目\Transformer学习逻辑\PPT素材\pca_800x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1225296"/>
            <a:ext cx="2840736" cy="21305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9744" y="3392424"/>
            <a:ext cx="371246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字符嵌入 PCA 降维可视化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95935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105656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395935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观察：PCA 降维后无明显聚类结构 → 猜想：仅 8 种 token，信息量不足以显现嵌入结构（需扩展词表）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5" y="274320"/>
            <a:ext cx="6155815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Attention 分析：Layer 4 的“广播”现象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机制分析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88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Layer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6642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Layer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39696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13969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Layer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15184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61518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Layer 4   ★ 广播现象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090672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0906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Layer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566160"/>
            <a:ext cx="370332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566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Layer 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0050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广播：Layer 4 中某一位置的信息被扩散到整个序列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188720"/>
            <a:ext cx="3886200" cy="2788920"/>
          </a:xfrm>
          <a:prstGeom prst="roundRect">
            <a:avLst>
              <a:gd name="adj" fmla="val 1803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298448"/>
            <a:ext cx="59436" cy="256946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12984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01768" y="1700784"/>
            <a:ext cx="35021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各层注意力呈现明显、稳定的模式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4 出现“广播”现象：某一位置的信息被扩散到整个序列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模型对 ~（非）等关键逻辑符的注意力显著集中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注意力热力图成为追溯模型决策路径的窗口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4489704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3434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意义：模型并非“黑盒” —— 其处理逻辑关系的内部模式可被可视化定位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注意力替换实验：模块如何协同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机制分析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 A：( 0 | 1 ) &amp;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9736" y="1307592"/>
            <a:ext cx="109728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1115568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16305E"/>
          </a:solidFill>
          <a:ln w="12700">
            <a:solidFill>
              <a:srgbClr val="1630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1556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 M(A)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8536" y="1307592"/>
            <a:ext cx="109728" cy="18288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115568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1155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 ≈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069848"/>
            <a:ext cx="2926080" cy="676656"/>
          </a:xfrm>
          <a:prstGeom prst="roundRect">
            <a:avLst>
              <a:gd name="adj" fmla="val 8108"/>
            </a:avLst>
          </a:prstGeom>
          <a:solidFill>
            <a:srgbClr val="FDF6E3"/>
          </a:solidFill>
          <a:ln w="15875">
            <a:solidFill>
              <a:srgbClr val="C9A22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870448" y="1069848"/>
            <a:ext cx="2724912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 A / B 的 Attention 矩阵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（A、B 仅相差 1 个字符）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2688336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12848"/>
            <a:ext cx="59436" cy="135331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输出依然接近 0 /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替换注意力后模型输出并未变成随机数，仍给出高置信预测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73552" y="2103120"/>
            <a:ext cx="2688336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3552" y="2212848"/>
            <a:ext cx="59436" cy="1353312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22" name="Text 20"/>
          <p:cNvSpPr/>
          <p:nvPr/>
        </p:nvSpPr>
        <p:spPr>
          <a:xfrm>
            <a:off x="3438144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有时全对，有时全错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38144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结果呈两极分布 —— 非噪声式扰动，而是系统性行为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9904" y="2103120"/>
            <a:ext cx="2688336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212848"/>
            <a:ext cx="59436" cy="1353312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注意力承载关键信息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注意力矩阵与 FFN 深度耦合，共同承担逻辑推理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3986784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84048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启示：模型内部表征稳定且模块化 —— 为后续“定位推理回路”的机制研究提供切入点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5278548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拓展：NoPE Transformer 奇偶性任务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机制分析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206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25296"/>
            <a:ext cx="59436" cy="1792224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252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任务与模型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591056"/>
            <a:ext cx="3822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任务：判断序列中 b 出现次数的奇偶性（Parity，二分类）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token：a ~ e 共 5 类；序列长度 10 ~ 100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模型：无位置编码 Transformer —— 2 层 · 4 头 · d_model = 32 · 均值池化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长度泛化：训练 ≤ 50，测试至 100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4206240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364992"/>
            <a:ext cx="59436" cy="969264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3649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3712464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1000 epoch 全程 checkpoint，追踪能力涌现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/ FFN 模块替换实验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115568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</p:spPr>
      </p:sp>
      <p:pic>
        <p:nvPicPr>
          <p:cNvPr id="15" name="Image 0" descr="D:\华天和\计算机\项目\Transformer学习逻辑\PPT素材\nope_training_640x4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261872"/>
            <a:ext cx="3169920" cy="2377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0" y="3721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NoPE Transformer 训练损失曲线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57200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4718304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5720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动机：Parity 是经典“难学”任务 —— 检验模型在没有位置信息时能否完成组合推理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主要结论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总结与展望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41648" cy="1627632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52728"/>
            <a:ext cx="59436" cy="1408176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98448"/>
            <a:ext cx="365760" cy="36576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316736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任务可学性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1764792"/>
            <a:ext cx="3639312" cy="877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能高效学会逻辑表达式求值：测试集准确率 98.88%，训练—测试差距仅约 1%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5152" y="1143000"/>
            <a:ext cx="4041648" cy="1627632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252728"/>
            <a:ext cx="59436" cy="1408176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4828032" y="129844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1316736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初始化效应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1764792"/>
            <a:ext cx="3639312" cy="877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小初始化（x = 0.8）显著提升泛化能力 —— 训练策略决定模型“记忆”还是“推理”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4041648" cy="1627632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26664"/>
            <a:ext cx="59436" cy="1408176"/>
          </a:xfrm>
          <a:prstGeom prst="roundRect">
            <a:avLst>
              <a:gd name="adj" fmla="val 46154"/>
            </a:avLst>
          </a:prstGeom>
          <a:solidFill>
            <a:srgbClr val="2E5EA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72384"/>
            <a:ext cx="365760" cy="36576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090672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共性弱点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" y="3538728"/>
            <a:ext cx="3639312" cy="877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多重否定场景准确率降至 86.13%，与智谱清言等大模型行为一致，属架构级难点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2916936"/>
            <a:ext cx="4041648" cy="1627632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026664"/>
            <a:ext cx="59436" cy="1408176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4828032" y="30723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090672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机制可解释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46320" y="3538728"/>
            <a:ext cx="3639312" cy="877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呈稳定模式（Layer 4 广播现象），替换实验揭示注意力与 FFN 的耦合机制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3108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163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不足与未来工作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715000" y="36576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总结与展望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92440" y="347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5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041648" cy="3108960"/>
          </a:xfrm>
          <a:prstGeom prst="roundRect">
            <a:avLst>
              <a:gd name="adj" fmla="val 1618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25296"/>
            <a:ext cx="59436" cy="2889504"/>
          </a:xfrm>
          <a:prstGeom prst="roundRect">
            <a:avLst>
              <a:gd name="adj" fmla="val 46154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现有不足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719072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仅 8 种 —— embedding 降维后结构难以显现，可解释性受限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机制分析以观察为主，尚未形成定量刻画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实验规模受算力限制（序列长度 ≤ 100）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5152" y="1115568"/>
            <a:ext cx="4041648" cy="3108960"/>
          </a:xfrm>
          <a:prstGeom prst="roundRect">
            <a:avLst>
              <a:gd name="adj" fmla="val 1618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blurRad="63500" dist="19050" dir="5400000" algn="bl" rotWithShape="0">
              <a:srgbClr val="16305E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25296"/>
            <a:ext cx="59436" cy="2889504"/>
          </a:xfrm>
          <a:prstGeom prst="roundRect">
            <a:avLst>
              <a:gd name="adj" fmla="val 46154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261872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未来工作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按位逻辑运算：token 从 8 种扩展至 0 ~ 127，增强嵌入结构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/ 推理相变研究：γ 参数、信息流分析、NTP vs CTP</a:t>
            </a:r>
            <a:endParaRPr lang="en-US" sz="115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 API 系统化测试：多重否定案例库批量评测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40740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6305E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553712"/>
            <a:ext cx="54864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074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从“能学会”走向“为什么能学会” —— 以可控任务理解 Transformer 的推理机制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项目历程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7498080" cy="27432"/>
          </a:xfrm>
          <a:prstGeom prst="rect">
            <a:avLst/>
          </a:prstGeom>
          <a:solidFill>
            <a:srgbClr val="3A5488"/>
          </a:solidFill>
          <a:ln/>
        </p:spPr>
      </p:sp>
      <p:sp>
        <p:nvSpPr>
          <p:cNvPr id="4" name="Shape 2"/>
          <p:cNvSpPr/>
          <p:nvPr/>
        </p:nvSpPr>
        <p:spPr>
          <a:xfrm>
            <a:off x="1632204" y="1618488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163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16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后缀表达式 + FNN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跑通全流程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35324" y="1618488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1630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216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87452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34640" y="2221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数据集构建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小初始化研究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38444" y="1618488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163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216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37760" y="2221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泛化性测试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机制分析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41564" y="1618488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1630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21615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87452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2221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NoPE × Parity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模块替换实验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每周组会汇报 5 次    ·    月度过程性记录 4 份    ·    开题报告 3 轮迭代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88536" y="3401568"/>
            <a:ext cx="566928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kern="0" spc="2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谢谢聆听，恳请各位老师批评指正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14400" y="4224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感谢指导教师的悉心指导与课题组同学的协作讨论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18120" y="411480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05572" y="411480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1E3F7A">
              <a:alpha val="8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411480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3A6CC0">
              <a:alpha val="8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80476" y="411480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18120" y="59893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C9A227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05572" y="59893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193024" y="59893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380476" y="598932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4A7BD0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7863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1E3F7A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005572" y="7863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2E5EAA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193024" y="7863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3A6CC0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80476" y="7863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16305E">
              <a:alpha val="8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C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1191</Words>
  <Application>Microsoft Office PowerPoint</Application>
  <PresentationFormat>全屏显示(16:9)</PresentationFormat>
  <Paragraphs>337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SimSun</vt:lpstr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天和 华</cp:lastModifiedBy>
  <cp:revision>3</cp:revision>
  <dcterms:created xsi:type="dcterms:W3CDTF">2026-08-19T15:46:19Z</dcterms:created>
  <dcterms:modified xsi:type="dcterms:W3CDTF">2026-08-20T13:09:05Z</dcterms:modified>
</cp:coreProperties>
</file>