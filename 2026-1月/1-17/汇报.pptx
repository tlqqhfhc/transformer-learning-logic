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F42471-6326-5075-3861-C8B8068C36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1F0790D-F114-0DFA-D91C-61F3F5BB1C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564891-37E1-E764-78E4-3EB464A01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A5262-7608-4E9F-89AD-94F647353D6F}" type="datetimeFigureOut">
              <a:rPr lang="zh-CN" altLang="en-US" smtClean="0"/>
              <a:t>2026-01-24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0EB4A8-5E48-A212-1089-D1A1C9FF3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CA7DF-2E41-3C0B-4F93-AE1858CAC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93ECC-29CD-4D8E-8C70-E1CD53502C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0188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D18DE8-B24A-EE12-5E7B-09CA54BAF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D455FF-8520-3745-562B-9D08F1144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7949E7-41F2-96A0-1966-A6B74BB3A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A5262-7608-4E9F-89AD-94F647353D6F}" type="datetimeFigureOut">
              <a:rPr lang="zh-CN" altLang="en-US" smtClean="0"/>
              <a:t>2026-01-24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44CF51-D49D-7B28-D952-F379CCBDD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FA08B9-1BED-0949-5553-5B1394B2F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93ECC-29CD-4D8E-8C70-E1CD53502C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487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30DC3E-1348-4AF6-D608-82A91AA33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0071AF-73C5-B136-E209-3F2593394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6282E7-0B28-57D2-BF70-4CF31A76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A5262-7608-4E9F-89AD-94F647353D6F}" type="datetimeFigureOut">
              <a:rPr lang="zh-CN" altLang="en-US" smtClean="0"/>
              <a:t>2026-01-24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DBA7CB-3A68-9900-F6AB-9D5F426C7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2601C8-21A6-1230-C341-C00F87A94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93ECC-29CD-4D8E-8C70-E1CD53502C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3927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9F0966-EA44-E5C7-4698-CF77553F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2D5EBA-FED0-1CC5-88D9-319C785684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C94E30-3971-2CBB-4E68-A13121AE04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D592A4-26F7-80C5-58CB-B9775A56A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A5262-7608-4E9F-89AD-94F647353D6F}" type="datetimeFigureOut">
              <a:rPr lang="zh-CN" altLang="en-US" smtClean="0"/>
              <a:t>2026-01-24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CA7771-3319-F436-8BFD-7A39F4E78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D1AB15-2B57-9061-CE6D-FD41276AA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93ECC-29CD-4D8E-8C70-E1CD53502C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509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FDA3A0-FD37-D50E-65DF-4BFBE2E55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205E81-BBDC-18C8-1C51-29C5F6F9C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FAECAF-D165-663F-609E-D4F3784B54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0D0BB2C-205D-41D0-ACD2-3A83577798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4D4AAAA-8B04-0C25-0139-1C9BC2A365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1408485-4A33-5843-3CF6-8594E9DB4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A5262-7608-4E9F-89AD-94F647353D6F}" type="datetimeFigureOut">
              <a:rPr lang="zh-CN" altLang="en-US" smtClean="0"/>
              <a:t>2026-01-24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3FF57B7-7232-CA7E-C5FE-BB82A2921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D58E8FD-575E-2CA3-A4A9-BE4AC626C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93ECC-29CD-4D8E-8C70-E1CD53502C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095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241B65-0A48-123C-0233-6FA16DE31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7E155AF-E9A7-6427-7908-9DF759E87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A5262-7608-4E9F-89AD-94F647353D6F}" type="datetimeFigureOut">
              <a:rPr lang="zh-CN" altLang="en-US" smtClean="0"/>
              <a:t>2026-01-24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964C5B4-8317-9B87-AB81-31D907E18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BCDE4F-3967-1B9F-B11C-D4D50808B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93ECC-29CD-4D8E-8C70-E1CD53502C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232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EF90400-1A9E-5041-266D-A7035D551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A5262-7608-4E9F-89AD-94F647353D6F}" type="datetimeFigureOut">
              <a:rPr lang="zh-CN" altLang="en-US" smtClean="0"/>
              <a:t>2026-01-24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DBC6C73-7D52-A63E-F771-0057637C4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A90EBD-E7C0-940E-ED33-75641AC4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93ECC-29CD-4D8E-8C70-E1CD53502C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207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21F20D-45AC-7E0E-FA3B-608D249A4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A86F22-1CFE-B349-F770-6DAE6C0D7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D5CB6E-9EDE-7CA6-32BD-3A5A610F4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29232A-2439-0BA6-31B6-43F4A18E1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A5262-7608-4E9F-89AD-94F647353D6F}" type="datetimeFigureOut">
              <a:rPr lang="zh-CN" altLang="en-US" smtClean="0"/>
              <a:t>2026-01-24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F99556-6836-429D-8716-A2D5FFCBB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52A5D8-88F0-59ED-D4C1-26A068E18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93ECC-29CD-4D8E-8C70-E1CD53502C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1268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BBF722-8D5F-9414-FF36-4B0FE3EC2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C564DC6-69DF-819B-99F6-F3FD8E6420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0AF70F-51B0-49A0-4D4C-76F1277E3C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5647FC-D082-5DF3-07F8-6766181A6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A5262-7608-4E9F-89AD-94F647353D6F}" type="datetimeFigureOut">
              <a:rPr lang="zh-CN" altLang="en-US" smtClean="0"/>
              <a:t>2026-01-24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624EB4-DC72-C840-C0B8-0B3902788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CAC9FD-D21E-E338-D3A2-39A88CDAB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93ECC-29CD-4D8E-8C70-E1CD53502C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2375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9638D-1466-D23D-2AF9-2DF084571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A0C1A03-639E-E85F-575E-A0A6824B9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AFCEBA-16AB-968D-A8CE-F641D98B1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A5262-7608-4E9F-89AD-94F647353D6F}" type="datetimeFigureOut">
              <a:rPr lang="zh-CN" altLang="en-US" smtClean="0"/>
              <a:t>2026-01-24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05EAFA-C1D0-529A-A072-E0F9F9F9F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C1255E-C263-F394-C4B8-9732A01A1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93ECC-29CD-4D8E-8C70-E1CD53502C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300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9B90E88-7998-1C87-C0FB-E85DE2F6B5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1497718-AF28-619F-C3BE-DCCAF4BB80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704E85-0FFA-F871-35B4-58F5D89BB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A5262-7608-4E9F-89AD-94F647353D6F}" type="datetimeFigureOut">
              <a:rPr lang="zh-CN" altLang="en-US" smtClean="0"/>
              <a:t>2026-01-24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E9EEF0-67EB-9177-912E-A8A966F35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D1ED66-B277-8CB2-59A0-41928BB64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93ECC-29CD-4D8E-8C70-E1CD53502C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9290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6A5C3A2-2E6E-F515-4487-62A3BF68E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DC5555-F35F-6FD5-7FB0-DD98264C3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478586-F5F5-F1F7-16A1-B06F0C9CA6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A5262-7608-4E9F-89AD-94F647353D6F}" type="datetimeFigureOut">
              <a:rPr lang="zh-CN" altLang="en-US" smtClean="0"/>
              <a:t>2026-01-24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94C035-A60D-5E4A-7D88-C99DA2BBD7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9BA314-4C2F-1DD1-DEE5-5C649E316F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093ECC-29CD-4D8E-8C70-E1CD53502C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742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0.png"/><Relationship Id="rId4" Type="http://schemas.openxmlformats.org/officeDocument/2006/relationships/image" Target="../media/image60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A7BAC95-8F21-7378-2DE8-C80B4BA8C4F7}"/>
                  </a:ext>
                </a:extLst>
              </p:cNvPr>
              <p:cNvSpPr txBox="1"/>
              <p:nvPr/>
            </p:nvSpPr>
            <p:spPr>
              <a:xfrm>
                <a:off x="859398" y="591266"/>
                <a:ext cx="8064596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/>
                  <a:t>任务：</a:t>
                </a:r>
                <a:endParaRPr lang="en-US" altLang="zh-CN" sz="3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3200" dirty="0"/>
                  <a:t>Transformer</a:t>
                </a:r>
                <a:r>
                  <a:rPr lang="zh-CN" altLang="en-US" sz="3200" dirty="0"/>
                  <a:t>模型完成逻辑表达式求值任务</a:t>
                </a:r>
                <a:endParaRPr lang="en-US" altLang="zh-CN" sz="3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3200" dirty="0"/>
                  <a:t>数据：子串法生成，训练数据量约为</a:t>
                </a:r>
                <a:r>
                  <a:rPr lang="en-US" altLang="zh-CN" sz="3200" dirty="0"/>
                  <a:t>10^5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3200" dirty="0"/>
                  <a:t>测试数据量约为</a:t>
                </a:r>
                <a:r>
                  <a:rPr lang="en-US" altLang="zh-CN" sz="3200" dirty="0"/>
                  <a:t>10^4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3200" dirty="0"/>
                  <a:t>表达式长度最长为</a:t>
                </a:r>
                <a:r>
                  <a:rPr lang="en-US" altLang="zh-CN" sz="3200" dirty="0"/>
                  <a:t>15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3200" dirty="0"/>
                  <a:t>特殊数据：</a:t>
                </a:r>
                <a:endParaRPr lang="en-US" altLang="zh-CN" sz="32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zh-CN" altLang="en-US" sz="3200" dirty="0"/>
                  <a:t>长度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&lt;10</m:t>
                    </m:r>
                  </m:oMath>
                </a14:m>
                <a:endParaRPr lang="en-US" altLang="zh-CN" sz="32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zh-CN" altLang="en-US" sz="3200" dirty="0"/>
                  <a:t>仅含或</a:t>
                </a:r>
                <a:endParaRPr lang="en-US" altLang="zh-CN" sz="32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zh-CN" altLang="en-US" sz="3200" dirty="0"/>
                  <a:t>仅含非</a:t>
                </a:r>
                <a:endParaRPr lang="en-US" altLang="zh-CN" sz="32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zh-CN" altLang="en-US" sz="3200" dirty="0"/>
                  <a:t>仅含与</a:t>
                </a: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A7BAC95-8F21-7378-2DE8-C80B4BA8C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398" y="591266"/>
                <a:ext cx="8064596" cy="5016758"/>
              </a:xfrm>
              <a:prstGeom prst="rect">
                <a:avLst/>
              </a:prstGeom>
              <a:blipFill>
                <a:blip r:embed="rId2"/>
                <a:stretch>
                  <a:fillRect l="-1965" t="-1580" b="-30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0658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CBAF120-E00C-FE38-E226-CD48654D5DA1}"/>
              </a:ext>
            </a:extLst>
          </p:cNvPr>
          <p:cNvSpPr txBox="1"/>
          <p:nvPr/>
        </p:nvSpPr>
        <p:spPr>
          <a:xfrm>
            <a:off x="1326911" y="742520"/>
            <a:ext cx="87177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模型结构：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520862B3-8FE3-281E-EB6E-CD5A94A30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923" y="1644341"/>
            <a:ext cx="9183098" cy="3972688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200F24AF-B828-6FB3-154F-2AD83352E787}"/>
              </a:ext>
            </a:extLst>
          </p:cNvPr>
          <p:cNvCxnSpPr>
            <a:cxnSpLocks/>
          </p:cNvCxnSpPr>
          <p:nvPr/>
        </p:nvCxnSpPr>
        <p:spPr>
          <a:xfrm flipV="1">
            <a:off x="7858340" y="3905107"/>
            <a:ext cx="0" cy="9694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562B5B88-4835-8DC0-C575-54E71F91F3C7}"/>
              </a:ext>
            </a:extLst>
          </p:cNvPr>
          <p:cNvSpPr txBox="1"/>
          <p:nvPr/>
        </p:nvSpPr>
        <p:spPr>
          <a:xfrm>
            <a:off x="7163946" y="4837610"/>
            <a:ext cx="25575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Hidden size1=32</a:t>
            </a:r>
          </a:p>
          <a:p>
            <a:r>
              <a:rPr lang="en-US" altLang="zh-C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Hidden size2=16</a:t>
            </a:r>
            <a:endParaRPr lang="zh-CN" alt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95A92FB-9A52-8E8A-3D3C-4682A880E691}"/>
                  </a:ext>
                </a:extLst>
              </p:cNvPr>
              <p:cNvSpPr txBox="1"/>
              <p:nvPr/>
            </p:nvSpPr>
            <p:spPr>
              <a:xfrm>
                <a:off x="1241979" y="3259723"/>
                <a:ext cx="255757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𝒎</m:t>
                          </m:r>
                        </m:sub>
                      </m:sSub>
                      <m:r>
                        <a:rPr lang="en-US" altLang="zh-CN" sz="1600" b="1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𝟏𝟔</m:t>
                      </m:r>
                    </m:oMath>
                  </m:oMathPara>
                </a14:m>
                <a:endParaRPr lang="zh-CN" altLang="en-US" sz="16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95A92FB-9A52-8E8A-3D3C-4682A880E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979" y="3259723"/>
                <a:ext cx="2557570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4A37D2B-4099-B558-9080-DA7889CA7285}"/>
                  </a:ext>
                </a:extLst>
              </p:cNvPr>
              <p:cNvSpPr txBox="1"/>
              <p:nvPr/>
            </p:nvSpPr>
            <p:spPr>
              <a:xfrm>
                <a:off x="3487875" y="4209469"/>
                <a:ext cx="2557570" cy="3606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𝒒</m:t>
                          </m:r>
                        </m:sub>
                      </m:sSub>
                      <m:r>
                        <a:rPr lang="en-US" altLang="zh-CN" sz="1600" b="1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𝒌</m:t>
                          </m:r>
                        </m:sub>
                      </m:sSub>
                      <m:r>
                        <a:rPr lang="en-US" altLang="zh-CN" sz="1600" b="1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𝒗</m:t>
                          </m:r>
                        </m:sub>
                      </m:sSub>
                      <m:r>
                        <a:rPr lang="en-US" altLang="zh-CN" sz="1600" b="1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𝟏𝟔</m:t>
                      </m:r>
                    </m:oMath>
                  </m:oMathPara>
                </a14:m>
                <a:endParaRPr lang="zh-CN" altLang="en-US" sz="16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4A37D2B-4099-B558-9080-DA7889CA7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875" y="4209469"/>
                <a:ext cx="2557570" cy="360676"/>
              </a:xfrm>
              <a:prstGeom prst="rect">
                <a:avLst/>
              </a:prstGeom>
              <a:blipFill>
                <a:blip r:embed="rId4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44410886-B1A5-F485-BDE0-A52CECE588E5}"/>
              </a:ext>
            </a:extLst>
          </p:cNvPr>
          <p:cNvSpPr txBox="1"/>
          <p:nvPr/>
        </p:nvSpPr>
        <p:spPr>
          <a:xfrm>
            <a:off x="5344176" y="2648531"/>
            <a:ext cx="1402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（单头）</a:t>
            </a:r>
          </a:p>
        </p:txBody>
      </p:sp>
      <p:pic>
        <p:nvPicPr>
          <p:cNvPr id="3" name="图片 2" descr="徽标&#10;&#10;AI 生成的内容可能不正确。">
            <a:extLst>
              <a:ext uri="{FF2B5EF4-FFF2-40B4-BE49-F238E27FC236}">
                <a16:creationId xmlns:a16="http://schemas.microsoft.com/office/drawing/2014/main" id="{F5FD566F-D417-BD22-5713-C2D0C42C92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0764" y="5725418"/>
            <a:ext cx="6771428" cy="4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486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EFC52D3-C2AD-6424-4770-1C4FE5AED820}"/>
                  </a:ext>
                </a:extLst>
              </p:cNvPr>
              <p:cNvSpPr txBox="1"/>
              <p:nvPr/>
            </p:nvSpPr>
            <p:spPr>
              <a:xfrm>
                <a:off x="61877" y="110003"/>
                <a:ext cx="6634555" cy="18729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/>
                  <a:t>初始化：</a:t>
                </a:r>
                <a:endParaRPr lang="en-US" altLang="zh-CN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𝑏𝑖𝑎𝑠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𝑢𝑛𝑖𝑓𝑜𝑟𝑚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(−</m:t>
                      </m:r>
                      <m:rad>
                        <m:radPr>
                          <m:deg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ra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ra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𝑤𝑒𝑖𝑔h𝑡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𝑛𝑜𝑟𝑚𝑎𝑙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(0,2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EFC52D3-C2AD-6424-4770-1C4FE5AED8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77" y="110003"/>
                <a:ext cx="6634555" cy="1872949"/>
              </a:xfrm>
              <a:prstGeom prst="rect">
                <a:avLst/>
              </a:prstGeom>
              <a:blipFill>
                <a:blip r:embed="rId2"/>
                <a:stretch>
                  <a:fillRect l="-919" t="-16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5551D2A0-71E3-A52D-0A10-E5ECC4E160BA}"/>
              </a:ext>
            </a:extLst>
          </p:cNvPr>
          <p:cNvGrpSpPr/>
          <p:nvPr/>
        </p:nvGrpSpPr>
        <p:grpSpPr>
          <a:xfrm>
            <a:off x="8435856" y="0"/>
            <a:ext cx="3424113" cy="2697749"/>
            <a:chOff x="61877" y="3320716"/>
            <a:chExt cx="3424113" cy="269774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CA0CF718-F382-875B-CA9C-9E2AE44BD7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877" y="3450380"/>
              <a:ext cx="3424113" cy="256808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67B3DA47-5DEE-191D-5F6A-33C2ECE47204}"/>
                    </a:ext>
                  </a:extLst>
                </p:cNvPr>
                <p:cNvSpPr txBox="1"/>
                <p:nvPr/>
              </p:nvSpPr>
              <p:spPr>
                <a:xfrm>
                  <a:off x="684216" y="3320716"/>
                  <a:ext cx="217943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=0.5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4ED8298D-6B58-99CD-D6EC-FCEC325A58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216" y="3320716"/>
                  <a:ext cx="217943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049476B-D378-FE1F-3361-B608A85EE5C4}"/>
              </a:ext>
            </a:extLst>
          </p:cNvPr>
          <p:cNvGrpSpPr/>
          <p:nvPr/>
        </p:nvGrpSpPr>
        <p:grpSpPr>
          <a:xfrm>
            <a:off x="8306401" y="2929169"/>
            <a:ext cx="3420563" cy="2763486"/>
            <a:chOff x="2598820" y="2992349"/>
            <a:chExt cx="3189183" cy="2576553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F6FD445B-81C0-2574-A762-4F8BA92505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8820" y="3177015"/>
              <a:ext cx="3189183" cy="239188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321E894B-CF96-A43A-0BEA-14D649C9F39A}"/>
                    </a:ext>
                  </a:extLst>
                </p:cNvPr>
                <p:cNvSpPr txBox="1"/>
                <p:nvPr/>
              </p:nvSpPr>
              <p:spPr>
                <a:xfrm>
                  <a:off x="3103694" y="2992349"/>
                  <a:ext cx="217943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=0.7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B55AD7AD-8176-120E-7361-997EEC4CD7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3694" y="2992349"/>
                  <a:ext cx="2179434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9E1BBB0-6AE6-3C59-9C98-2D2B49283D86}"/>
              </a:ext>
            </a:extLst>
          </p:cNvPr>
          <p:cNvGrpSpPr/>
          <p:nvPr/>
        </p:nvGrpSpPr>
        <p:grpSpPr>
          <a:xfrm>
            <a:off x="4498771" y="2874169"/>
            <a:ext cx="3684648" cy="2818486"/>
            <a:chOff x="2429007" y="2495818"/>
            <a:chExt cx="3684648" cy="2818486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0EDA2017-C181-101D-7D9C-89D3A66A195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29007" y="2550818"/>
              <a:ext cx="3684648" cy="276348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4BAC3B37-8AF4-4494-75A6-875A23522B15}"/>
                    </a:ext>
                  </a:extLst>
                </p:cNvPr>
                <p:cNvSpPr txBox="1"/>
                <p:nvPr/>
              </p:nvSpPr>
              <p:spPr>
                <a:xfrm>
                  <a:off x="3181614" y="2495818"/>
                  <a:ext cx="217943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=0.8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413339B3-6502-960D-02FE-C5905726C4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1614" y="2495818"/>
                  <a:ext cx="2179434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005460C-33F2-7AF4-9F53-2B64B4EFA7A1}"/>
              </a:ext>
            </a:extLst>
          </p:cNvPr>
          <p:cNvGrpSpPr/>
          <p:nvPr/>
        </p:nvGrpSpPr>
        <p:grpSpPr>
          <a:xfrm>
            <a:off x="791706" y="3028164"/>
            <a:ext cx="3386567" cy="2664491"/>
            <a:chOff x="523963" y="2902802"/>
            <a:chExt cx="3386567" cy="2664491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F2823A29-9E37-EF6A-0652-B5164AE895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3963" y="3027368"/>
              <a:ext cx="3386567" cy="253992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5FDB8C84-A758-C3A2-D960-132F470EA964}"/>
                    </a:ext>
                  </a:extLst>
                </p:cNvPr>
                <p:cNvSpPr txBox="1"/>
                <p:nvPr/>
              </p:nvSpPr>
              <p:spPr>
                <a:xfrm>
                  <a:off x="1127530" y="2902802"/>
                  <a:ext cx="217943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=1.0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2ECA6DC-48C7-8797-824A-EFB9A9D85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7530" y="2902802"/>
                  <a:ext cx="2179434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03039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10D770-84B7-743A-1BB3-DE1143747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准确率曲线（</a:t>
            </a:r>
            <a:r>
              <a:rPr lang="en-US" altLang="zh-CN" sz="3600" dirty="0"/>
              <a:t>epoch=200</a:t>
            </a:r>
            <a:r>
              <a:rPr lang="zh-CN" altLang="en-US" sz="3600" dirty="0"/>
              <a:t>）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99A1981-840C-EFD4-08D6-C2402A105D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39" y="1381703"/>
            <a:ext cx="7252229" cy="4351338"/>
          </a:xfr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7D2E3BF-C00E-EBEE-471C-CA52F7C3A580}"/>
              </a:ext>
            </a:extLst>
          </p:cNvPr>
          <p:cNvSpPr txBox="1"/>
          <p:nvPr/>
        </p:nvSpPr>
        <p:spPr>
          <a:xfrm>
            <a:off x="7453746" y="2834701"/>
            <a:ext cx="59851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最终准确率：</a:t>
            </a:r>
            <a:endParaRPr lang="en-US" altLang="zh-CN" dirty="0"/>
          </a:p>
          <a:p>
            <a:r>
              <a:rPr lang="zh-CN" altLang="en-US" dirty="0"/>
              <a:t>仅非：</a:t>
            </a:r>
            <a:r>
              <a:rPr lang="en-US" altLang="zh-CN" dirty="0"/>
              <a:t>0.8613</a:t>
            </a:r>
          </a:p>
          <a:p>
            <a:r>
              <a:rPr lang="zh-CN" altLang="en-US" dirty="0"/>
              <a:t>仅或、仅与：</a:t>
            </a:r>
            <a:r>
              <a:rPr lang="en-US" altLang="zh-CN" dirty="0"/>
              <a:t>1.0000</a:t>
            </a:r>
          </a:p>
          <a:p>
            <a:r>
              <a:rPr lang="zh-CN" altLang="en-US" dirty="0"/>
              <a:t>短数据集：</a:t>
            </a:r>
            <a:r>
              <a:rPr lang="en-US" altLang="zh-CN" dirty="0"/>
              <a:t>0.9805</a:t>
            </a:r>
          </a:p>
          <a:p>
            <a:r>
              <a:rPr lang="zh-CN" altLang="en-US" dirty="0"/>
              <a:t>测试集：</a:t>
            </a:r>
            <a:r>
              <a:rPr lang="en-US" altLang="zh-CN" dirty="0"/>
              <a:t>0.9888</a:t>
            </a:r>
          </a:p>
          <a:p>
            <a:r>
              <a:rPr lang="zh-CN" altLang="en-US" dirty="0"/>
              <a:t>训练集：</a:t>
            </a:r>
            <a:r>
              <a:rPr lang="en-US" altLang="zh-CN" dirty="0"/>
              <a:t>0.9983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6721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3C3C245-B8AE-5137-2680-63631E693C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105" y="1671843"/>
            <a:ext cx="5630231" cy="3378139"/>
          </a:xfr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ED3C76C1-F9FB-E22E-C18F-C2476AB59CEE}"/>
              </a:ext>
            </a:extLst>
          </p:cNvPr>
          <p:cNvGrpSpPr/>
          <p:nvPr/>
        </p:nvGrpSpPr>
        <p:grpSpPr>
          <a:xfrm>
            <a:off x="6380019" y="1608508"/>
            <a:ext cx="5059687" cy="3794765"/>
            <a:chOff x="6339828" y="2024144"/>
            <a:chExt cx="5852172" cy="4389129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D995B40E-027E-FADF-3380-533817C74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39828" y="2024144"/>
              <a:ext cx="5852172" cy="4389129"/>
            </a:xfrm>
            <a:prstGeom prst="rect">
              <a:avLst/>
            </a:prstGeom>
          </p:spPr>
        </p:pic>
        <p:pic>
          <p:nvPicPr>
            <p:cNvPr id="9" name="图片 8" descr="背景图案&#10;&#10;AI 生成的内容可能不正确。">
              <a:extLst>
                <a:ext uri="{FF2B5EF4-FFF2-40B4-BE49-F238E27FC236}">
                  <a16:creationId xmlns:a16="http://schemas.microsoft.com/office/drawing/2014/main" id="{D9F17CDE-6AF0-27F8-11B2-930354D588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26092" y="4554426"/>
              <a:ext cx="1314286" cy="1269630"/>
            </a:xfrm>
            <a:prstGeom prst="rect">
              <a:avLst/>
            </a:prstGeom>
          </p:spPr>
        </p:pic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B7388BCC-A97D-610D-485F-866F868AE57E}"/>
              </a:ext>
            </a:extLst>
          </p:cNvPr>
          <p:cNvSpPr txBox="1"/>
          <p:nvPr/>
        </p:nvSpPr>
        <p:spPr>
          <a:xfrm>
            <a:off x="1036313" y="1668667"/>
            <a:ext cx="4107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仅非数据集准确率随非运算符数量变化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EB72852-42A5-D8DB-B42F-5FBAA8259775}"/>
              </a:ext>
            </a:extLst>
          </p:cNvPr>
          <p:cNvSpPr txBox="1"/>
          <p:nvPr/>
        </p:nvSpPr>
        <p:spPr>
          <a:xfrm>
            <a:off x="7236926" y="1608508"/>
            <a:ext cx="4107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准确率随表达式长度变化</a:t>
            </a:r>
          </a:p>
        </p:txBody>
      </p:sp>
    </p:spTree>
    <p:extLst>
      <p:ext uri="{BB962C8B-B14F-4D97-AF65-F5344CB8AC3E}">
        <p14:creationId xmlns:p14="http://schemas.microsoft.com/office/powerpoint/2010/main" val="237660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6DDE54-3689-0F23-9075-16988F776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Embedding</a:t>
            </a:r>
            <a:r>
              <a:rPr lang="zh-CN" altLang="en-US" dirty="0"/>
              <a:t>矩阵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AD624AC-47CC-CD8C-2594-39AB894612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636" y="1846406"/>
            <a:ext cx="5801784" cy="4351338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52F6C06-C36E-02EA-2C48-7ADCD697A026}"/>
              </a:ext>
            </a:extLst>
          </p:cNvPr>
          <p:cNvSpPr txBox="1"/>
          <p:nvPr/>
        </p:nvSpPr>
        <p:spPr>
          <a:xfrm>
            <a:off x="3636818" y="5818909"/>
            <a:ext cx="17387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(padding</a:t>
            </a:r>
            <a:r>
              <a:rPr lang="zh-CN" altLang="en-US" sz="105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594568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0EADA7-545D-E046-4F20-41FCB9447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382" y="74179"/>
            <a:ext cx="10515600" cy="1325563"/>
          </a:xfrm>
        </p:spPr>
        <p:txBody>
          <a:bodyPr/>
          <a:lstStyle/>
          <a:p>
            <a:r>
              <a:rPr lang="en-US" altLang="zh-CN" dirty="0"/>
              <a:t>Attention</a:t>
            </a:r>
            <a:r>
              <a:rPr lang="zh-CN" altLang="en-US" dirty="0"/>
              <a:t>矩阵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5806EEF-1AFB-637D-D28B-4379B136D3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63540"/>
            <a:ext cx="3430924" cy="2573193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A8B3320-714F-5FFC-13DD-F31DE93202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905" y="1191332"/>
            <a:ext cx="3460721" cy="259554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1C5F02A-6B27-5D95-2B40-2EF0F4D995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0352" y="1188936"/>
            <a:ext cx="3460721" cy="259554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951C4FF-6CE7-B405-96A1-E5541B98BF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821" y="3736732"/>
            <a:ext cx="3460721" cy="259554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060F32D-369F-3EF1-95B0-A155800172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8921" y="3736733"/>
            <a:ext cx="3460721" cy="259554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5B3BDD1-7E5D-7246-80E0-44334012A18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3078" y="3736733"/>
            <a:ext cx="3460721" cy="2595541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E1A7C37-A9AC-04B0-7A4C-10B700F7EE83}"/>
              </a:ext>
            </a:extLst>
          </p:cNvPr>
          <p:cNvSpPr txBox="1"/>
          <p:nvPr/>
        </p:nvSpPr>
        <p:spPr>
          <a:xfrm>
            <a:off x="4736059" y="560926"/>
            <a:ext cx="6108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Seq=((1&amp;0)|(~0&amp;1))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8997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4482EC-B914-2225-679E-C2C01C422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Attention</a:t>
            </a:r>
            <a:r>
              <a:rPr lang="zh-CN" altLang="en-US" dirty="0"/>
              <a:t>矩阵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B9F329E5-3B54-D156-9334-1F1D82C1A3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827" y="1326278"/>
            <a:ext cx="3239581" cy="2429685"/>
          </a:xfr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971C03C-D344-8E9B-C340-F16216909C51}"/>
              </a:ext>
            </a:extLst>
          </p:cNvPr>
          <p:cNvSpPr txBox="1"/>
          <p:nvPr/>
        </p:nvSpPr>
        <p:spPr>
          <a:xfrm>
            <a:off x="4736059" y="658574"/>
            <a:ext cx="6108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Seq=((1&amp;0)&amp;(~0&amp;1))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61812AF-E0DD-EE23-805B-5563C7A21B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6776" y="1315726"/>
            <a:ext cx="3267717" cy="245078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4E6B329-E0BB-6F1A-7DE1-D9BD06132F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9271" y="1326278"/>
            <a:ext cx="3267717" cy="245078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ED8F1C0-5764-7ED8-8C61-B533B90B90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281" y="3755963"/>
            <a:ext cx="3267717" cy="245078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0AB23EC3-236D-87C1-E580-F29DE3FD6A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0154" y="3787618"/>
            <a:ext cx="3267717" cy="245078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FE9F1180-5007-9429-79E5-A96FBA5A02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0352" y="3787618"/>
            <a:ext cx="3267717" cy="245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363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10189</TotalTime>
  <Words>170</Words>
  <Application>Microsoft Office PowerPoint</Application>
  <PresentationFormat>宽屏</PresentationFormat>
  <Paragraphs>38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等线</vt:lpstr>
      <vt:lpstr>等线 Light</vt:lpstr>
      <vt:lpstr>黑体</vt:lpstr>
      <vt:lpstr>Arial</vt:lpstr>
      <vt:lpstr>Calibri</vt:lpstr>
      <vt:lpstr>Cambria Math</vt:lpstr>
      <vt:lpstr>Office 主题​​</vt:lpstr>
      <vt:lpstr>PowerPoint 演示文稿</vt:lpstr>
      <vt:lpstr>PowerPoint 演示文稿</vt:lpstr>
      <vt:lpstr>PowerPoint 演示文稿</vt:lpstr>
      <vt:lpstr>准确率曲线（epoch=200）</vt:lpstr>
      <vt:lpstr>PowerPoint 演示文稿</vt:lpstr>
      <vt:lpstr>Embedding矩阵</vt:lpstr>
      <vt:lpstr>Attention矩阵</vt:lpstr>
      <vt:lpstr>Attention矩阵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天和 华</dc:creator>
  <cp:lastModifiedBy>天和 华</cp:lastModifiedBy>
  <cp:revision>3</cp:revision>
  <dcterms:created xsi:type="dcterms:W3CDTF">2026-01-16T12:41:40Z</dcterms:created>
  <dcterms:modified xsi:type="dcterms:W3CDTF">2026-01-24T02:12:10Z</dcterms:modified>
</cp:coreProperties>
</file>