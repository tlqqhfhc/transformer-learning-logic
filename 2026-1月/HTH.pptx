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4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C86F7A-4C13-4512-9546-7A2E13DD49E4}" type="datetimeFigureOut">
              <a:rPr lang="zh-CN" altLang="en-US" smtClean="0"/>
              <a:pPr>
                <a:defRPr/>
              </a:pPr>
              <a:t>2026-02-06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D5BE2B-728A-4539-B86A-F2CEE53DE51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8752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28C279-DE8B-468B-BC28-587297351CC5}" type="datetimeFigureOut">
              <a:rPr lang="zh-CN" altLang="en-US" smtClean="0"/>
              <a:pPr>
                <a:defRPr/>
              </a:pPr>
              <a:t>2026-02-06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58769B-FD91-4354-84DF-C542D236D27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9811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49DB7B-3909-433D-9621-020AC3631DB6}" type="datetimeFigureOut">
              <a:rPr lang="zh-CN" altLang="en-US" smtClean="0"/>
              <a:pPr>
                <a:defRPr/>
              </a:pPr>
              <a:t>2026-02-06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02487E-DA75-40AD-AFB9-B7E66780091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956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7891DE-9EFB-436C-8098-DA346D61F734}" type="datetimeFigureOut">
              <a:rPr lang="zh-CN" altLang="en-US" smtClean="0"/>
              <a:pPr>
                <a:defRPr/>
              </a:pPr>
              <a:t>2026-02-06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019AB3-A56A-40DC-B315-4C9AF1D9AEF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920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88A4FD-48AA-4EB3-ADAB-90805DF574A9}" type="datetimeFigureOut">
              <a:rPr lang="zh-CN" altLang="en-US" smtClean="0"/>
              <a:pPr>
                <a:defRPr/>
              </a:pPr>
              <a:t>2026-02-06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19823B-989B-4FE0-A31C-A45838B716C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0433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83F5B-15CF-41AD-AAF7-C365C83FF08D}" type="datetimeFigureOut">
              <a:rPr lang="zh-CN" altLang="en-US" smtClean="0"/>
              <a:pPr>
                <a:defRPr/>
              </a:pPr>
              <a:t>2026-02-06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7C2566-FD93-41C5-8007-9C6D9D8DF86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7343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F8473D-2D84-413D-97BD-015ADE628A5A}" type="datetimeFigureOut">
              <a:rPr lang="zh-CN" altLang="en-US" smtClean="0"/>
              <a:pPr>
                <a:defRPr/>
              </a:pPr>
              <a:t>2026-02-06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55DC8D-C4F0-4F0D-B826-92573808DA5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879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FA7D9F-B4F6-4B7D-8D30-9FDE43AA2DD2}" type="datetimeFigureOut">
              <a:rPr lang="zh-CN" altLang="en-US" smtClean="0"/>
              <a:pPr>
                <a:defRPr/>
              </a:pPr>
              <a:t>2026-02-06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B07F97-2FC2-4714-850C-6700199D619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237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AE2CA6-8D79-400E-AD1E-56E3E0DA2BAA}" type="datetimeFigureOut">
              <a:rPr lang="zh-CN" altLang="en-US" smtClean="0"/>
              <a:pPr>
                <a:defRPr/>
              </a:pPr>
              <a:t>2026-02-06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D9D1E1-5454-45C3-93DA-86C3DA9ECB4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379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852424-72F4-440E-8E03-587598E5B119}" type="datetimeFigureOut">
              <a:rPr lang="zh-CN" altLang="en-US" smtClean="0"/>
              <a:pPr>
                <a:defRPr/>
              </a:pPr>
              <a:t>2026-02-06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DF9EC1-C088-4DAC-AB69-D10F40584BD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855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EF9C9-4C84-4072-AFAA-D241A8D58A51}" type="datetimeFigureOut">
              <a:rPr lang="zh-CN" altLang="en-US" smtClean="0"/>
              <a:pPr>
                <a:defRPr/>
              </a:pPr>
              <a:t>2026-02-06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0597D9-2D04-4C83-915B-79D3B5D496F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8745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83BA994-DBC0-4389-9AC3-50B67B3923E1}" type="datetimeFigureOut">
              <a:rPr lang="zh-CN" altLang="en-US" smtClean="0"/>
              <a:pPr>
                <a:defRPr/>
              </a:pPr>
              <a:t>2026-02-06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DA430D88-0AE5-4EDA-BDD3-1B97B5FCD56A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8339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C96045-201B-67EB-125A-0657A445C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模型结构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CA0E8A-894B-D965-2210-6869D7C02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314D0D7B-441B-977F-CB1C-4FB271926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923" y="1644341"/>
            <a:ext cx="9183098" cy="3972688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AC42F43-896A-3E4F-C440-161B248ED4E7}"/>
              </a:ext>
            </a:extLst>
          </p:cNvPr>
          <p:cNvCxnSpPr>
            <a:cxnSpLocks/>
          </p:cNvCxnSpPr>
          <p:nvPr/>
        </p:nvCxnSpPr>
        <p:spPr>
          <a:xfrm flipV="1">
            <a:off x="7858340" y="3905107"/>
            <a:ext cx="0" cy="9694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0ECD0B96-3EE0-5DA3-8B0C-9519331A0938}"/>
              </a:ext>
            </a:extLst>
          </p:cNvPr>
          <p:cNvSpPr txBox="1"/>
          <p:nvPr/>
        </p:nvSpPr>
        <p:spPr>
          <a:xfrm>
            <a:off x="7163946" y="4837610"/>
            <a:ext cx="25575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Hidden size1=32</a:t>
            </a:r>
          </a:p>
          <a:p>
            <a:r>
              <a:rPr lang="en-US" altLang="zh-C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Hidden size2=16</a:t>
            </a:r>
            <a:endParaRPr lang="zh-CN" alt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E2C4F54-5B65-D5BE-0ED6-EF7C3061EEDD}"/>
                  </a:ext>
                </a:extLst>
              </p:cNvPr>
              <p:cNvSpPr txBox="1"/>
              <p:nvPr/>
            </p:nvSpPr>
            <p:spPr>
              <a:xfrm>
                <a:off x="1241979" y="3259723"/>
                <a:ext cx="255757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𝒎</m:t>
                          </m:r>
                        </m:sub>
                      </m:sSub>
                      <m:r>
                        <a:rPr lang="en-US" altLang="zh-CN" sz="1600" b="1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𝟏𝟔</m:t>
                      </m:r>
                    </m:oMath>
                  </m:oMathPara>
                </a14:m>
                <a:endParaRPr lang="zh-CN" altLang="en-US" sz="16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E2C4F54-5B65-D5BE-0ED6-EF7C3061E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979" y="3259723"/>
                <a:ext cx="2557570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8911C36-D124-9AE6-0AAF-DB111EBDDD22}"/>
                  </a:ext>
                </a:extLst>
              </p:cNvPr>
              <p:cNvSpPr txBox="1"/>
              <p:nvPr/>
            </p:nvSpPr>
            <p:spPr>
              <a:xfrm>
                <a:off x="3487875" y="4209469"/>
                <a:ext cx="2557570" cy="3606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𝒒</m:t>
                          </m:r>
                        </m:sub>
                      </m:sSub>
                      <m:r>
                        <a:rPr lang="en-US" altLang="zh-CN" sz="1600" b="1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𝒌</m:t>
                          </m:r>
                        </m:sub>
                      </m:sSub>
                      <m:r>
                        <a:rPr lang="en-US" altLang="zh-CN" sz="1600" b="1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𝒗</m:t>
                          </m:r>
                        </m:sub>
                      </m:sSub>
                      <m:r>
                        <a:rPr lang="en-US" altLang="zh-CN" sz="1600" b="1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𝟏𝟔</m:t>
                      </m:r>
                    </m:oMath>
                  </m:oMathPara>
                </a14:m>
                <a:endParaRPr lang="zh-CN" altLang="en-US" sz="16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8911C36-D124-9AE6-0AAF-DB111EBDD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875" y="4209469"/>
                <a:ext cx="2557570" cy="360676"/>
              </a:xfrm>
              <a:prstGeom prst="rect">
                <a:avLst/>
              </a:prstGeom>
              <a:blipFill>
                <a:blip r:embed="rId4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755881CB-31C6-8BEF-34FC-7CCDF5C44853}"/>
              </a:ext>
            </a:extLst>
          </p:cNvPr>
          <p:cNvSpPr txBox="1"/>
          <p:nvPr/>
        </p:nvSpPr>
        <p:spPr>
          <a:xfrm>
            <a:off x="5344176" y="2648531"/>
            <a:ext cx="1402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（单头）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098D2DB-DC3E-D67B-08D3-AEEF235FC56F}"/>
              </a:ext>
            </a:extLst>
          </p:cNvPr>
          <p:cNvSpPr txBox="1"/>
          <p:nvPr/>
        </p:nvSpPr>
        <p:spPr>
          <a:xfrm>
            <a:off x="563777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27D7D84-EDD1-2DEC-D76E-DDE74E0B64F6}"/>
              </a:ext>
            </a:extLst>
          </p:cNvPr>
          <p:cNvSpPr txBox="1"/>
          <p:nvPr/>
        </p:nvSpPr>
        <p:spPr>
          <a:xfrm>
            <a:off x="4687220" y="4893414"/>
            <a:ext cx="3342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Learning Rate=0.001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3727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4ECB45-A7B5-FC7C-E2DB-254001349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项目进展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5122C5-2257-AC10-F7ED-458220C0A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验证了小初始化能够增加模型推理能力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E212292-837A-3601-3C4B-F30715114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6722" y="2344737"/>
            <a:ext cx="3476420" cy="260731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B376DF7-E135-1FD1-DCDC-F5BC9F6836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0261" y="2344737"/>
            <a:ext cx="3476420" cy="260731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DE34BA4-A516-0E33-16A6-046A238B2E9E}"/>
              </a:ext>
            </a:extLst>
          </p:cNvPr>
          <p:cNvSpPr txBox="1"/>
          <p:nvPr/>
        </p:nvSpPr>
        <p:spPr>
          <a:xfrm>
            <a:off x="2463800" y="5010150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初始化参数</a:t>
            </a:r>
            <a:r>
              <a:rPr lang="en-US" altLang="zh-CN" dirty="0"/>
              <a:t>x=0.5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096552E-87A3-EE52-CE39-0A44CABFADF8}"/>
              </a:ext>
            </a:extLst>
          </p:cNvPr>
          <p:cNvSpPr txBox="1"/>
          <p:nvPr/>
        </p:nvSpPr>
        <p:spPr>
          <a:xfrm>
            <a:off x="7118350" y="4992132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初始化参数</a:t>
            </a:r>
            <a:r>
              <a:rPr lang="en-US" altLang="zh-CN" dirty="0"/>
              <a:t>x=0.8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9A5E084-95B2-B849-62E8-0D1AFB86C08D}"/>
                  </a:ext>
                </a:extLst>
              </p:cNvPr>
              <p:cNvSpPr txBox="1"/>
              <p:nvPr/>
            </p:nvSpPr>
            <p:spPr>
              <a:xfrm>
                <a:off x="6146800" y="1556335"/>
                <a:ext cx="6096000" cy="7468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𝑤𝑒𝑖𝑔h𝑡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𝑛𝑜𝑟𝑚𝑎𝑙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(0,2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9A5E084-95B2-B849-62E8-0D1AFB86C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6800" y="1556335"/>
                <a:ext cx="6096000" cy="7468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0620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4EAFA9-2C66-4350-56C8-E000CCEFB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项目进展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1A6C6B-9C71-E515-C00C-16EFF51D8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在一个数据集上得到了表现良好的模型</a:t>
            </a:r>
            <a:endParaRPr lang="en-US" altLang="zh-CN" dirty="0"/>
          </a:p>
          <a:p>
            <a:r>
              <a:rPr lang="zh-CN" altLang="en-US" dirty="0"/>
              <a:t>数据集：</a:t>
            </a:r>
            <a:endParaRPr lang="en-US" altLang="zh-CN" dirty="0"/>
          </a:p>
          <a:p>
            <a:pPr lvl="1"/>
            <a:r>
              <a:rPr lang="zh-CN" altLang="en-US" dirty="0"/>
              <a:t>每条数据长度</a:t>
            </a:r>
            <a:r>
              <a:rPr lang="en-US" altLang="zh-CN" dirty="0"/>
              <a:t>15</a:t>
            </a:r>
            <a:r>
              <a:rPr lang="zh-CN" altLang="en-US" dirty="0"/>
              <a:t>，共</a:t>
            </a:r>
            <a:r>
              <a:rPr lang="en-US" altLang="zh-CN" dirty="0"/>
              <a:t>10^5</a:t>
            </a:r>
            <a:r>
              <a:rPr lang="zh-CN" altLang="en-US" dirty="0"/>
              <a:t>条</a:t>
            </a:r>
            <a:endParaRPr lang="en-US" altLang="zh-CN" dirty="0"/>
          </a:p>
          <a:p>
            <a:pPr lvl="1"/>
            <a:r>
              <a:rPr lang="zh-CN" altLang="en-US" dirty="0"/>
              <a:t>训练准确率：</a:t>
            </a:r>
            <a:r>
              <a:rPr lang="en-US" altLang="zh-CN" dirty="0"/>
              <a:t>99%</a:t>
            </a:r>
          </a:p>
          <a:p>
            <a:pPr lvl="1"/>
            <a:r>
              <a:rPr lang="zh-CN" altLang="en-US" dirty="0"/>
              <a:t>测试准确率：</a:t>
            </a:r>
            <a:r>
              <a:rPr lang="en-US" altLang="zh-CN" dirty="0"/>
              <a:t>98%</a:t>
            </a:r>
          </a:p>
          <a:p>
            <a:r>
              <a:rPr lang="zh-CN" altLang="en-US" dirty="0"/>
              <a:t>现象：</a:t>
            </a:r>
            <a:endParaRPr lang="en-US" altLang="zh-CN" dirty="0"/>
          </a:p>
          <a:p>
            <a:pPr lvl="1"/>
            <a:r>
              <a:rPr lang="zh-CN" altLang="en-US" dirty="0"/>
              <a:t>模型对含大量非运算的数据准确率不高（</a:t>
            </a:r>
            <a:r>
              <a:rPr lang="en-US" altLang="zh-CN" dirty="0"/>
              <a:t>&lt;85%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质谱清言大模型同样存在出错现象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E18F9DB7-8F17-0F20-E722-5BE04F3A9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800" y="4408885"/>
            <a:ext cx="2561572" cy="208399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DEEA9E2-13AE-758E-119B-C6F1A4553B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992" y="2328465"/>
            <a:ext cx="2326620" cy="139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775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883CC9-373C-9837-6A82-824E0DDD9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目前研究方向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149A06-EAEE-1E7C-9CF9-FF5BC6AB0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分析模型：</a:t>
            </a:r>
            <a:endParaRPr lang="en-US" altLang="zh-CN" dirty="0"/>
          </a:p>
          <a:p>
            <a:pPr lvl="1"/>
            <a:r>
              <a:rPr lang="zh-CN" altLang="en-US" dirty="0"/>
              <a:t>对于</a:t>
            </a:r>
            <a:r>
              <a:rPr lang="en-US" altLang="zh-CN" dirty="0"/>
              <a:t>embedding</a:t>
            </a:r>
            <a:r>
              <a:rPr lang="zh-CN" altLang="en-US" dirty="0"/>
              <a:t>矩阵：进行</a:t>
            </a:r>
            <a:r>
              <a:rPr lang="en-US" altLang="zh-CN" dirty="0"/>
              <a:t>PCA</a:t>
            </a:r>
            <a:r>
              <a:rPr lang="zh-CN" altLang="en-US" dirty="0"/>
              <a:t>降维，尝试寻找模式</a:t>
            </a:r>
            <a:endParaRPr lang="en-US" altLang="zh-CN" dirty="0"/>
          </a:p>
          <a:p>
            <a:pPr lvl="1"/>
            <a:r>
              <a:rPr lang="zh-CN" altLang="en-US" dirty="0"/>
              <a:t>对于</a:t>
            </a:r>
            <a:r>
              <a:rPr lang="en-US" altLang="zh-CN" dirty="0"/>
              <a:t>attention</a:t>
            </a:r>
            <a:r>
              <a:rPr lang="zh-CN" altLang="en-US" dirty="0"/>
              <a:t>矩阵：发现有明显的模式。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2"/>
            <a:r>
              <a:rPr lang="zh-CN" altLang="en-US" dirty="0"/>
              <a:t>注意力替换实验：</a:t>
            </a:r>
            <a:endParaRPr lang="en-US" altLang="zh-CN" dirty="0"/>
          </a:p>
          <a:p>
            <a:pPr lvl="2"/>
            <a:r>
              <a:rPr lang="zh-CN" altLang="en-US" dirty="0"/>
              <a:t>将两个相似的输入（只相差</a:t>
            </a:r>
            <a:r>
              <a:rPr lang="en-US" altLang="zh-CN" dirty="0"/>
              <a:t>1</a:t>
            </a:r>
            <a:r>
              <a:rPr lang="zh-CN" altLang="en-US" dirty="0"/>
              <a:t>个字符）的注意力矩阵互换，观察输出是否有变化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75C7522-76A6-AEA5-A6C8-089D4FF34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1443" y="0"/>
            <a:ext cx="3002495" cy="225187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226FFF0-F183-962D-4A4C-B352003782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6582" y="2186144"/>
            <a:ext cx="2063542" cy="154765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6207C10-54B0-3248-5D8F-F70BAFE66743}"/>
              </a:ext>
            </a:extLst>
          </p:cNvPr>
          <p:cNvSpPr txBox="1"/>
          <p:nvPr/>
        </p:nvSpPr>
        <p:spPr>
          <a:xfrm>
            <a:off x="8547100" y="3733800"/>
            <a:ext cx="236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如：</a:t>
            </a:r>
            <a:r>
              <a:rPr lang="en-US" altLang="zh-CN" dirty="0"/>
              <a:t>Attention layer4</a:t>
            </a:r>
            <a:r>
              <a:rPr lang="zh-CN" altLang="en-US" dirty="0"/>
              <a:t>存在明显的广播现象</a:t>
            </a:r>
          </a:p>
        </p:txBody>
      </p:sp>
    </p:spTree>
    <p:extLst>
      <p:ext uri="{BB962C8B-B14F-4D97-AF65-F5344CB8AC3E}">
        <p14:creationId xmlns:p14="http://schemas.microsoft.com/office/powerpoint/2010/main" val="2914076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78CD59-9132-E076-2580-C0FEF0093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将来研究方向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DA68E0-A16E-9BE3-40F2-AF9320D1D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扩大训练规模：</a:t>
            </a:r>
            <a:endParaRPr lang="en-US" altLang="zh-CN" dirty="0"/>
          </a:p>
          <a:p>
            <a:pPr lvl="1"/>
            <a:r>
              <a:rPr lang="zh-CN" altLang="en-US" dirty="0"/>
              <a:t>目前</a:t>
            </a:r>
            <a:r>
              <a:rPr lang="en-US" altLang="zh-CN" dirty="0"/>
              <a:t>token</a:t>
            </a:r>
            <a:r>
              <a:rPr lang="zh-CN" altLang="en-US" dirty="0"/>
              <a:t>只有</a:t>
            </a:r>
            <a:r>
              <a:rPr lang="en-US" altLang="zh-CN" dirty="0"/>
              <a:t>8</a:t>
            </a:r>
            <a:r>
              <a:rPr lang="zh-CN" altLang="en-US" dirty="0"/>
              <a:t>种，</a:t>
            </a:r>
            <a:r>
              <a:rPr lang="en-US" altLang="zh-CN" dirty="0"/>
              <a:t>embedding</a:t>
            </a:r>
            <a:r>
              <a:rPr lang="zh-CN" altLang="en-US" dirty="0"/>
              <a:t>降维后难以看出结构</a:t>
            </a:r>
            <a:endParaRPr lang="en-US" altLang="zh-CN" dirty="0"/>
          </a:p>
          <a:p>
            <a:pPr lvl="1"/>
            <a:r>
              <a:rPr lang="zh-CN" altLang="en-US" dirty="0"/>
              <a:t>难以确定模型是否真的理解了逻辑运算的本质</a:t>
            </a:r>
            <a:endParaRPr lang="en-US" altLang="zh-CN" dirty="0"/>
          </a:p>
          <a:p>
            <a:pPr lvl="1"/>
            <a:r>
              <a:rPr lang="zh-CN" altLang="en-US" dirty="0"/>
              <a:t>将逻辑运算改为位运算，</a:t>
            </a:r>
            <a:r>
              <a:rPr lang="en-US" altLang="zh-CN" dirty="0"/>
              <a:t>token</a:t>
            </a:r>
            <a:r>
              <a:rPr lang="zh-CN" altLang="en-US" dirty="0"/>
              <a:t>从</a:t>
            </a:r>
            <a:r>
              <a:rPr lang="en-US" altLang="zh-CN" dirty="0"/>
              <a:t>0</a:t>
            </a:r>
            <a:r>
              <a:rPr lang="zh-CN" altLang="en-US" dirty="0"/>
              <a:t>和</a:t>
            </a:r>
            <a:r>
              <a:rPr lang="en-US" altLang="zh-CN" dirty="0"/>
              <a:t>1</a:t>
            </a:r>
            <a:r>
              <a:rPr lang="zh-CN" altLang="en-US" dirty="0"/>
              <a:t>增加至</a:t>
            </a:r>
            <a:r>
              <a:rPr lang="en-US" altLang="zh-CN" dirty="0"/>
              <a:t>0</a:t>
            </a:r>
            <a:r>
              <a:rPr lang="zh-CN" altLang="en-US" dirty="0"/>
              <a:t>到</a:t>
            </a:r>
            <a:r>
              <a:rPr lang="en-US" altLang="zh-CN" dirty="0"/>
              <a:t>127</a:t>
            </a:r>
          </a:p>
          <a:p>
            <a:pPr lvl="1"/>
            <a:r>
              <a:rPr lang="zh-CN" altLang="en-US" dirty="0"/>
              <a:t>可能能够解决现在的问题</a:t>
            </a:r>
          </a:p>
        </p:txBody>
      </p:sp>
    </p:spTree>
    <p:extLst>
      <p:ext uri="{BB962C8B-B14F-4D97-AF65-F5344CB8AC3E}">
        <p14:creationId xmlns:p14="http://schemas.microsoft.com/office/powerpoint/2010/main" val="2495503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230</Words>
  <Application>Microsoft Office PowerPoint</Application>
  <PresentationFormat>宽屏</PresentationFormat>
  <Paragraphs>38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黑体</vt:lpstr>
      <vt:lpstr>Arial</vt:lpstr>
      <vt:lpstr>Calibri</vt:lpstr>
      <vt:lpstr>Calibri Light</vt:lpstr>
      <vt:lpstr>Cambria Math</vt:lpstr>
      <vt:lpstr>Office 主题</vt:lpstr>
      <vt:lpstr>模型结构</vt:lpstr>
      <vt:lpstr>项目进展</vt:lpstr>
      <vt:lpstr>项目进展</vt:lpstr>
      <vt:lpstr>目前研究方向</vt:lpstr>
      <vt:lpstr>将来研究方向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天和 华</dc:creator>
  <cp:lastModifiedBy>天和 华</cp:lastModifiedBy>
  <cp:revision>3</cp:revision>
  <dcterms:created xsi:type="dcterms:W3CDTF">2026-02-05T11:32:06Z</dcterms:created>
  <dcterms:modified xsi:type="dcterms:W3CDTF">2026-02-06T01:49:22Z</dcterms:modified>
</cp:coreProperties>
</file>